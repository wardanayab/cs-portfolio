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68" r:id="rId1"/>
  </p:sldMasterIdLst>
  <p:sldIdLst>
    <p:sldId id="256" r:id="rId2"/>
    <p:sldId id="257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>
        <p:scale>
          <a:sx n="75" d="100"/>
          <a:sy n="75" d="100"/>
        </p:scale>
        <p:origin x="-1824" y="-33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2286000" y="3124200"/>
            <a:ext cx="6172200" cy="1894362"/>
          </a:xfrm>
        </p:spPr>
        <p:txBody>
          <a:bodyPr/>
          <a:lstStyle>
            <a:lvl1pPr>
              <a:defRPr b="1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2286000" y="5003322"/>
            <a:ext cx="6172200" cy="1371600"/>
          </a:xfrm>
        </p:spPr>
        <p:txBody>
          <a:bodyPr/>
          <a:lstStyle>
            <a:lvl1pPr marL="0" indent="0" algn="l">
              <a:buNone/>
              <a:defRPr sz="1800" b="1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 bwMode="auto">
          <a:xfrm rot="5400000">
            <a:off x="7764621" y="1174097"/>
            <a:ext cx="2286000" cy="381000"/>
          </a:xfrm>
        </p:spPr>
        <p:txBody>
          <a:bodyPr/>
          <a:lstStyle/>
          <a:p>
            <a:fld id="{4415F357-96A4-4089-9FAA-6D4536C11BD7}" type="datetimeFigureOut">
              <a:rPr lang="en-US" smtClean="0"/>
              <a:t>1/11/2024</a:t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 bwMode="auto">
          <a:xfrm rot="5400000">
            <a:off x="7077269" y="4181669"/>
            <a:ext cx="3657600" cy="384048"/>
          </a:xfrm>
        </p:spPr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 bwMode="auto">
          <a:xfrm>
            <a:off x="381000" y="0"/>
            <a:ext cx="609600" cy="6858000"/>
          </a:xfrm>
          <a:prstGeom prst="rect">
            <a:avLst/>
          </a:prstGeom>
          <a:solidFill>
            <a:schemeClr val="accent1">
              <a:tint val="60000"/>
              <a:alpha val="54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 bwMode="auto">
          <a:xfrm>
            <a:off x="276336" y="0"/>
            <a:ext cx="104664" cy="6858000"/>
          </a:xfrm>
          <a:prstGeom prst="rect">
            <a:avLst/>
          </a:prstGeom>
          <a:solidFill>
            <a:schemeClr val="accent1">
              <a:tint val="40000"/>
              <a:alpha val="36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4" name="Rectangle 13"/>
          <p:cNvSpPr/>
          <p:nvPr/>
        </p:nvSpPr>
        <p:spPr bwMode="auto">
          <a:xfrm>
            <a:off x="990600" y="0"/>
            <a:ext cx="181872" cy="6858000"/>
          </a:xfrm>
          <a:prstGeom prst="rect">
            <a:avLst/>
          </a:prstGeom>
          <a:solidFill>
            <a:schemeClr val="accent1">
              <a:tint val="40000"/>
              <a:alpha val="7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9" name="Rectangle 18"/>
          <p:cNvSpPr/>
          <p:nvPr/>
        </p:nvSpPr>
        <p:spPr bwMode="auto">
          <a:xfrm>
            <a:off x="1141320" y="0"/>
            <a:ext cx="230280" cy="6858000"/>
          </a:xfrm>
          <a:prstGeom prst="rect">
            <a:avLst/>
          </a:prstGeom>
          <a:solidFill>
            <a:schemeClr val="accent1">
              <a:tint val="20000"/>
              <a:alpha val="7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Straight Connector 10"/>
          <p:cNvSpPr>
            <a:spLocks noChangeShapeType="1"/>
          </p:cNvSpPr>
          <p:nvPr/>
        </p:nvSpPr>
        <p:spPr bwMode="auto">
          <a:xfrm>
            <a:off x="106344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  <a:alpha val="7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8" name="Straight Connector 17"/>
          <p:cNvSpPr>
            <a:spLocks noChangeShapeType="1"/>
          </p:cNvSpPr>
          <p:nvPr/>
        </p:nvSpPr>
        <p:spPr bwMode="auto">
          <a:xfrm>
            <a:off x="914400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20000"/>
                <a:alpha val="8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0" name="Straight Connector 19"/>
          <p:cNvSpPr>
            <a:spLocks noChangeShapeType="1"/>
          </p:cNvSpPr>
          <p:nvPr/>
        </p:nvSpPr>
        <p:spPr bwMode="auto">
          <a:xfrm>
            <a:off x="854112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6" name="Straight Connector 15"/>
          <p:cNvSpPr>
            <a:spLocks noChangeShapeType="1"/>
          </p:cNvSpPr>
          <p:nvPr/>
        </p:nvSpPr>
        <p:spPr bwMode="auto">
          <a:xfrm>
            <a:off x="1726640" y="0"/>
            <a:ext cx="0" cy="6858000"/>
          </a:xfrm>
          <a:prstGeom prst="line">
            <a:avLst/>
          </a:prstGeom>
          <a:noFill/>
          <a:ln w="28575" cap="flat" cmpd="sng" algn="ctr">
            <a:solidFill>
              <a:schemeClr val="accent1">
                <a:tint val="60000"/>
                <a:alpha val="82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5" name="Straight Connector 14"/>
          <p:cNvSpPr>
            <a:spLocks noChangeShapeType="1"/>
          </p:cNvSpPr>
          <p:nvPr/>
        </p:nvSpPr>
        <p:spPr bwMode="auto">
          <a:xfrm>
            <a:off x="10668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2" name="Straight Connector 21"/>
          <p:cNvSpPr>
            <a:spLocks noChangeShapeType="1"/>
          </p:cNvSpPr>
          <p:nvPr/>
        </p:nvSpPr>
        <p:spPr bwMode="auto">
          <a:xfrm>
            <a:off x="9113856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7" name="Rectangle 26"/>
          <p:cNvSpPr/>
          <p:nvPr/>
        </p:nvSpPr>
        <p:spPr bwMode="auto">
          <a:xfrm>
            <a:off x="1219200" y="0"/>
            <a:ext cx="76200" cy="6858000"/>
          </a:xfrm>
          <a:prstGeom prst="rect">
            <a:avLst/>
          </a:prstGeom>
          <a:solidFill>
            <a:schemeClr val="accent1">
              <a:tint val="60000"/>
              <a:alpha val="5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1" name="Oval 20"/>
          <p:cNvSpPr/>
          <p:nvPr/>
        </p:nvSpPr>
        <p:spPr bwMode="auto">
          <a:xfrm>
            <a:off x="609600" y="3429000"/>
            <a:ext cx="1295400" cy="1295400"/>
          </a:xfrm>
          <a:prstGeom prst="ellipse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Oval 22"/>
          <p:cNvSpPr/>
          <p:nvPr/>
        </p:nvSpPr>
        <p:spPr bwMode="auto">
          <a:xfrm>
            <a:off x="1309632" y="4866752"/>
            <a:ext cx="641424" cy="641424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4" name="Oval 23"/>
          <p:cNvSpPr/>
          <p:nvPr/>
        </p:nvSpPr>
        <p:spPr bwMode="auto">
          <a:xfrm>
            <a:off x="1091080" y="5500632"/>
            <a:ext cx="137160" cy="13716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6" name="Oval 25"/>
          <p:cNvSpPr/>
          <p:nvPr/>
        </p:nvSpPr>
        <p:spPr bwMode="auto">
          <a:xfrm>
            <a:off x="1664208" y="5788152"/>
            <a:ext cx="274320" cy="27432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5" name="Oval 24"/>
          <p:cNvSpPr/>
          <p:nvPr/>
        </p:nvSpPr>
        <p:spPr>
          <a:xfrm>
            <a:off x="1905000" y="4495800"/>
            <a:ext cx="365760" cy="365760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 bwMode="auto">
          <a:xfrm>
            <a:off x="1325544" y="4928702"/>
            <a:ext cx="609600" cy="517524"/>
          </a:xfrm>
        </p:spPr>
        <p:txBody>
          <a:bodyPr/>
          <a:lstStyle/>
          <a:p>
            <a:fld id="{09B616DB-E831-4136-818B-F7A264E894F3}" type="slidenum">
              <a:rPr lang="en-US" smtClean="0"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7467600" cy="4873752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/>
          <a:p>
            <a:fld id="{4415F357-96A4-4089-9FAA-6D4536C11BD7}" type="datetimeFigureOut">
              <a:rPr lang="en-US" smtClean="0"/>
              <a:t>1/11/2024</a:t>
            </a:fld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/>
          <a:p>
            <a:fld id="{09B616DB-E831-4136-818B-F7A264E894F3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6"/>
          </p:nvPr>
        </p:nvSpPr>
        <p:spPr/>
        <p:txBody>
          <a:bodyPr rtlCol="0"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0" y="2895600"/>
            <a:ext cx="6172200" cy="2053590"/>
          </a:xfrm>
        </p:spPr>
        <p:txBody>
          <a:bodyPr/>
          <a:lstStyle>
            <a:lvl1pPr algn="l">
              <a:buNone/>
              <a:defRPr sz="3000" b="1" cap="small" baseline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86000" y="5010150"/>
            <a:ext cx="6172200" cy="1371600"/>
          </a:xfrm>
        </p:spPr>
        <p:txBody>
          <a:bodyPr anchor="t"/>
          <a:lstStyle>
            <a:lvl1pPr marL="0" indent="0">
              <a:buNone/>
              <a:defRPr sz="1800" b="1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auto">
          <a:xfrm rot="5400000">
            <a:off x="7763256" y="1170432"/>
            <a:ext cx="2286000" cy="381000"/>
          </a:xfrm>
        </p:spPr>
        <p:txBody>
          <a:bodyPr/>
          <a:lstStyle/>
          <a:p>
            <a:fld id="{4415F357-96A4-4089-9FAA-6D4536C11BD7}" type="datetimeFigureOut">
              <a:rPr lang="en-US" smtClean="0"/>
              <a:t>1/11/2024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auto">
          <a:xfrm rot="5400000">
            <a:off x="7077456" y="4178808"/>
            <a:ext cx="3657600" cy="384048"/>
          </a:xfrm>
        </p:spPr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 bwMode="auto">
          <a:xfrm>
            <a:off x="381000" y="0"/>
            <a:ext cx="609600" cy="6858000"/>
          </a:xfrm>
          <a:prstGeom prst="rect">
            <a:avLst/>
          </a:prstGeom>
          <a:solidFill>
            <a:schemeClr val="accent1">
              <a:tint val="60000"/>
              <a:alpha val="54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 bwMode="auto">
          <a:xfrm>
            <a:off x="276336" y="0"/>
            <a:ext cx="104664" cy="6858000"/>
          </a:xfrm>
          <a:prstGeom prst="rect">
            <a:avLst/>
          </a:prstGeom>
          <a:solidFill>
            <a:schemeClr val="accent1">
              <a:tint val="40000"/>
              <a:alpha val="36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ectangle 10"/>
          <p:cNvSpPr/>
          <p:nvPr/>
        </p:nvSpPr>
        <p:spPr bwMode="auto">
          <a:xfrm>
            <a:off x="990600" y="0"/>
            <a:ext cx="181872" cy="6858000"/>
          </a:xfrm>
          <a:prstGeom prst="rect">
            <a:avLst/>
          </a:prstGeom>
          <a:solidFill>
            <a:schemeClr val="accent1">
              <a:tint val="40000"/>
              <a:alpha val="7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 bwMode="auto">
          <a:xfrm>
            <a:off x="1141320" y="0"/>
            <a:ext cx="230280" cy="6858000"/>
          </a:xfrm>
          <a:prstGeom prst="rect">
            <a:avLst/>
          </a:prstGeom>
          <a:solidFill>
            <a:schemeClr val="accent1">
              <a:tint val="20000"/>
              <a:alpha val="7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Straight Connector 12"/>
          <p:cNvSpPr>
            <a:spLocks noChangeShapeType="1"/>
          </p:cNvSpPr>
          <p:nvPr/>
        </p:nvSpPr>
        <p:spPr bwMode="auto">
          <a:xfrm>
            <a:off x="106344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  <a:alpha val="7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4" name="Straight Connector 13"/>
          <p:cNvSpPr>
            <a:spLocks noChangeShapeType="1"/>
          </p:cNvSpPr>
          <p:nvPr/>
        </p:nvSpPr>
        <p:spPr bwMode="auto">
          <a:xfrm>
            <a:off x="914400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20000"/>
                <a:alpha val="8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5" name="Straight Connector 14"/>
          <p:cNvSpPr>
            <a:spLocks noChangeShapeType="1"/>
          </p:cNvSpPr>
          <p:nvPr/>
        </p:nvSpPr>
        <p:spPr bwMode="auto">
          <a:xfrm>
            <a:off x="854112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6" name="Straight Connector 15"/>
          <p:cNvSpPr>
            <a:spLocks noChangeShapeType="1"/>
          </p:cNvSpPr>
          <p:nvPr/>
        </p:nvSpPr>
        <p:spPr bwMode="auto">
          <a:xfrm>
            <a:off x="1726640" y="0"/>
            <a:ext cx="0" cy="6858000"/>
          </a:xfrm>
          <a:prstGeom prst="line">
            <a:avLst/>
          </a:prstGeom>
          <a:noFill/>
          <a:ln w="28575" cap="flat" cmpd="sng" algn="ctr">
            <a:solidFill>
              <a:schemeClr val="accent1">
                <a:tint val="60000"/>
                <a:alpha val="82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7" name="Straight Connector 16"/>
          <p:cNvSpPr>
            <a:spLocks noChangeShapeType="1"/>
          </p:cNvSpPr>
          <p:nvPr/>
        </p:nvSpPr>
        <p:spPr bwMode="auto">
          <a:xfrm>
            <a:off x="10668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8" name="Rectangle 17"/>
          <p:cNvSpPr/>
          <p:nvPr/>
        </p:nvSpPr>
        <p:spPr bwMode="auto">
          <a:xfrm>
            <a:off x="1219200" y="0"/>
            <a:ext cx="76200" cy="6858000"/>
          </a:xfrm>
          <a:prstGeom prst="rect">
            <a:avLst/>
          </a:prstGeom>
          <a:solidFill>
            <a:schemeClr val="accent1">
              <a:tint val="60000"/>
              <a:alpha val="5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9" name="Oval 18"/>
          <p:cNvSpPr/>
          <p:nvPr/>
        </p:nvSpPr>
        <p:spPr bwMode="auto">
          <a:xfrm>
            <a:off x="609600" y="3429000"/>
            <a:ext cx="1295400" cy="129540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0" name="Oval 19"/>
          <p:cNvSpPr/>
          <p:nvPr/>
        </p:nvSpPr>
        <p:spPr bwMode="auto">
          <a:xfrm>
            <a:off x="1324704" y="4866752"/>
            <a:ext cx="641424" cy="641424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1" name="Oval 20"/>
          <p:cNvSpPr/>
          <p:nvPr/>
        </p:nvSpPr>
        <p:spPr bwMode="auto">
          <a:xfrm>
            <a:off x="1091080" y="5500632"/>
            <a:ext cx="137160" cy="13716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2" name="Oval 21"/>
          <p:cNvSpPr/>
          <p:nvPr/>
        </p:nvSpPr>
        <p:spPr bwMode="auto">
          <a:xfrm>
            <a:off x="1664208" y="5791200"/>
            <a:ext cx="274320" cy="27432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Oval 22"/>
          <p:cNvSpPr/>
          <p:nvPr/>
        </p:nvSpPr>
        <p:spPr bwMode="auto">
          <a:xfrm>
            <a:off x="1879040" y="4479888"/>
            <a:ext cx="365760" cy="365760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6" name="Straight Connector 25"/>
          <p:cNvSpPr>
            <a:spLocks noChangeShapeType="1"/>
          </p:cNvSpPr>
          <p:nvPr/>
        </p:nvSpPr>
        <p:spPr bwMode="auto">
          <a:xfrm>
            <a:off x="9097944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auto">
          <a:xfrm>
            <a:off x="1340616" y="4928702"/>
            <a:ext cx="609600" cy="517524"/>
          </a:xfrm>
        </p:spPr>
        <p:txBody>
          <a:bodyPr/>
          <a:lstStyle/>
          <a:p>
            <a:fld id="{09B616DB-E831-4136-818B-F7A264E894F3}" type="slidenum">
              <a:rPr lang="en-US" smtClean="0"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15F357-96A4-4089-9FAA-6D4536C11BD7}" type="datetimeFigureOut">
              <a:rPr lang="en-US" smtClean="0"/>
              <a:t>1/11/2024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B616DB-E831-4136-818B-F7A264E894F3}" type="slidenum">
              <a:rPr lang="en-US" smtClean="0"/>
              <a:t>‹#›</a:t>
            </a:fld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3657600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270248" y="1600200"/>
            <a:ext cx="3657600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7543800" cy="1143000"/>
          </a:xfrm>
        </p:spPr>
        <p:txBody>
          <a:bodyPr anchor="b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15F357-96A4-4089-9FAA-6D4536C11BD7}" type="datetimeFigureOut">
              <a:rPr lang="en-US" smtClean="0"/>
              <a:t>1/11/2024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B616DB-E831-4136-818B-F7A264E894F3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57200" y="2362200"/>
            <a:ext cx="3657600" cy="38862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4371975" y="2362200"/>
            <a:ext cx="3657600" cy="38862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"/>
          </p:nvPr>
        </p:nvSpPr>
        <p:spPr>
          <a:xfrm>
            <a:off x="457200" y="1569720"/>
            <a:ext cx="3657600" cy="658368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</p:spPr>
        <p:txBody>
          <a:bodyPr rtlCol="0" anchor="ctr">
            <a:noAutofit/>
          </a:bodyPr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sz="quarter" idx="3"/>
          </p:nvPr>
        </p:nvSpPr>
        <p:spPr>
          <a:xfrm>
            <a:off x="4343400" y="1569720"/>
            <a:ext cx="3657600" cy="658368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</p:spPr>
        <p:txBody>
          <a:bodyPr rtlCol="0" anchor="ctr">
            <a:noAutofit/>
          </a:bodyPr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4415F357-96A4-4089-9FAA-6D4536C11BD7}" type="datetimeFigureOut">
              <a:rPr lang="en-US" smtClean="0"/>
              <a:t>1/11/2024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09B616DB-E831-4136-818B-F7A264E894F3}" type="slidenum">
              <a:rPr lang="en-US" smtClean="0"/>
              <a:t>‹#›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15F357-96A4-4089-9FAA-6D4536C11BD7}" type="datetimeFigureOut">
              <a:rPr lang="en-US" smtClean="0"/>
              <a:t>1/11/2024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B616DB-E831-4136-818B-F7A264E894F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traight Connector 9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  <a:alpha val="9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rot="5400000">
            <a:off x="3371850" y="3200400"/>
            <a:ext cx="6309360" cy="457200"/>
          </a:xfrm>
        </p:spPr>
        <p:txBody>
          <a:bodyPr anchor="b"/>
          <a:lstStyle>
            <a:lvl1pPr algn="l">
              <a:buNone/>
              <a:defRPr sz="2000" b="1" cap="small" baseline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812280" y="274320"/>
            <a:ext cx="1527048" cy="4983480"/>
          </a:xfrm>
        </p:spPr>
        <p:txBody>
          <a:bodyPr/>
          <a:lstStyle>
            <a:lvl1pPr marL="0" indent="0">
              <a:spcBef>
                <a:spcPts val="400"/>
              </a:spcBef>
              <a:spcAft>
                <a:spcPts val="1000"/>
              </a:spcAft>
              <a:buNone/>
              <a:defRPr sz="12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62484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>
            <a:off x="6192296" y="0"/>
            <a:ext cx="0" cy="6858000"/>
          </a:xfrm>
          <a:prstGeom prst="line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1" name="Straight Connector 10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Rectangle 11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  <a:alpha val="87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Straight Connector 12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4" name="Oval 13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8" name="Content Placeholder 17"/>
          <p:cNvSpPr>
            <a:spLocks noGrp="1"/>
          </p:cNvSpPr>
          <p:nvPr>
            <p:ph sz="quarter" idx="1"/>
          </p:nvPr>
        </p:nvSpPr>
        <p:spPr>
          <a:xfrm>
            <a:off x="304800" y="274320"/>
            <a:ext cx="5638800" cy="6327648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21" name="Date Placeholder 20"/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/>
          <a:p>
            <a:fld id="{4415F357-96A4-4089-9FAA-6D4536C11BD7}" type="datetimeFigureOut">
              <a:rPr lang="en-US" smtClean="0"/>
              <a:t>1/11/2024</a:t>
            </a:fld>
            <a:endParaRPr lang="en-US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/>
          <a:p>
            <a:fld id="{09B616DB-E831-4136-818B-F7A264E894F3}" type="slidenum">
              <a:rPr lang="en-US" smtClean="0"/>
              <a:t>‹#›</a:t>
            </a:fld>
            <a:endParaRPr lang="en-US"/>
          </a:p>
        </p:txBody>
      </p:sp>
      <p:sp>
        <p:nvSpPr>
          <p:cNvPr id="23" name="Footer Placeholder 22"/>
          <p:cNvSpPr>
            <a:spLocks noGrp="1"/>
          </p:cNvSpPr>
          <p:nvPr>
            <p:ph type="ftr" sz="quarter" idx="16"/>
          </p:nvPr>
        </p:nvSpPr>
        <p:spPr/>
        <p:txBody>
          <a:bodyPr rtlCol="0"/>
          <a:lstStyle/>
          <a:p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traight Connector 8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3" name="Oval 12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rot="5400000">
            <a:off x="3350133" y="3200400"/>
            <a:ext cx="6309360" cy="457200"/>
          </a:xfrm>
        </p:spPr>
        <p:txBody>
          <a:bodyPr anchor="b"/>
          <a:lstStyle>
            <a:lvl1pPr algn="l">
              <a:buNone/>
              <a:defRPr sz="2000" b="1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0" y="0"/>
            <a:ext cx="6172200" cy="6858000"/>
          </a:xfrm>
          <a:solidFill>
            <a:schemeClr val="bg2"/>
          </a:solidFill>
          <a:ln w="1270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/>
          <a:lstStyle>
            <a:lvl1pPr marL="0" indent="0">
              <a:buNone/>
              <a:defRPr sz="3200"/>
            </a:lvl1pPr>
          </a:lstStyle>
          <a:p>
            <a:pPr algn="ctr" eaLnBrk="1" latinLnBrk="0" hangingPunct="1">
              <a:buFontTx/>
              <a:buNone/>
            </a:pPr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65798" y="264795"/>
            <a:ext cx="1524000" cy="4956048"/>
          </a:xfrm>
        </p:spPr>
        <p:txBody>
          <a:bodyPr rot="0" spcFirstLastPara="0" vertOverflow="overflow" horzOverflow="overflow" vert="horz" wrap="square" lIns="91440" tIns="45720" rIns="91440" bIns="45720" numCol="1" spcCol="274320" rtlCol="0" fromWordArt="0" anchor="t" anchorCtr="0" forceAA="0" compatLnSpc="1">
            <a:normAutofit/>
          </a:bodyPr>
          <a:lstStyle>
            <a:lvl1pPr marL="0" indent="0">
              <a:spcBef>
                <a:spcPts val="100"/>
              </a:spcBef>
              <a:spcAft>
                <a:spcPts val="400"/>
              </a:spcAft>
              <a:buFontTx/>
              <a:buNone/>
              <a:defRPr sz="12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10" name="Straight Connector 9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1" name="Rectangle 10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Straight Connector 11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9" name="Straight Connector 18"/>
          <p:cNvSpPr>
            <a:spLocks noChangeShapeType="1"/>
          </p:cNvSpPr>
          <p:nvPr/>
        </p:nvSpPr>
        <p:spPr bwMode="auto">
          <a:xfrm>
            <a:off x="62484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0" name="Straight Connector 19"/>
          <p:cNvSpPr>
            <a:spLocks noChangeShapeType="1"/>
          </p:cNvSpPr>
          <p:nvPr/>
        </p:nvSpPr>
        <p:spPr bwMode="auto">
          <a:xfrm>
            <a:off x="6192296" y="0"/>
            <a:ext cx="0" cy="6858000"/>
          </a:xfrm>
          <a:prstGeom prst="line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7" name="Date Placeholder 1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4415F357-96A4-4089-9FAA-6D4536C11BD7}" type="datetimeFigureOut">
              <a:rPr lang="en-US" smtClean="0"/>
              <a:t>1/11/2024</a:t>
            </a:fld>
            <a:endParaRPr 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09B616DB-E831-4136-818B-F7A264E894F3}" type="slidenum">
              <a:rPr lang="en-US" smtClean="0"/>
              <a:t>‹#›</a:t>
            </a:fld>
            <a:endParaRPr lang="en-US"/>
          </a:p>
        </p:txBody>
      </p:sp>
      <p:sp>
        <p:nvSpPr>
          <p:cNvPr id="21" name="Footer Placeholder 20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15F357-96A4-4089-9FAA-6D4536C11BD7}" type="datetimeFigureOut">
              <a:rPr lang="en-US" smtClean="0"/>
              <a:t>1/11/2024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B616DB-E831-4136-818B-F7A264E894F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1676400" cy="5851525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15F357-96A4-4089-9FAA-6D4536C11BD7}" type="datetimeFigureOut">
              <a:rPr lang="en-US" smtClean="0"/>
              <a:t>1/11/2024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B616DB-E831-4136-818B-F7A264E894F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traight Connector 15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  <a:alpha val="9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1143000"/>
          </a:xfrm>
          <a:prstGeom prst="rect">
            <a:avLst/>
          </a:prstGeom>
        </p:spPr>
        <p:txBody>
          <a:bodyPr vert="horz" anchor="b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7467600" cy="487375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 rot="5400000">
            <a:off x="7589520" y="1081851"/>
            <a:ext cx="2011680" cy="384048"/>
          </a:xfrm>
          <a:prstGeom prst="rect">
            <a:avLst/>
          </a:prstGeom>
        </p:spPr>
        <p:txBody>
          <a:bodyPr vert="horz" anchor="ctr" anchorCtr="0"/>
          <a:lstStyle>
            <a:lvl1pPr algn="r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fld id="{4415F357-96A4-4089-9FAA-6D4536C11BD7}" type="datetimeFigureOut">
              <a:rPr lang="en-US" smtClean="0"/>
              <a:t>1/11/2024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 rot="5400000">
            <a:off x="6990186" y="3737240"/>
            <a:ext cx="3200400" cy="365760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traight Connector 6"/>
          <p:cNvSpPr>
            <a:spLocks noChangeShapeType="1"/>
          </p:cNvSpPr>
          <p:nvPr/>
        </p:nvSpPr>
        <p:spPr bwMode="auto">
          <a:xfrm>
            <a:off x="76200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Rectangle 9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  <a:alpha val="87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Straight Connector 10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Oval 11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8129016" y="5734050"/>
            <a:ext cx="609600" cy="521208"/>
          </a:xfrm>
          <a:prstGeom prst="rect">
            <a:avLst/>
          </a:prstGeom>
        </p:spPr>
        <p:txBody>
          <a:bodyPr vert="horz" anchor="ctr"/>
          <a:lstStyle>
            <a:lvl1pPr algn="ctr" eaLnBrk="1" latinLnBrk="0" hangingPunct="1">
              <a:defRPr kumimoji="0" sz="1400" b="1">
                <a:solidFill>
                  <a:srgbClr val="FFFFFF"/>
                </a:solidFill>
              </a:defRPr>
            </a:lvl1pPr>
          </a:lstStyle>
          <a:p>
            <a:fld id="{09B616DB-E831-4136-818B-F7A264E894F3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69" r:id="rId1"/>
    <p:sldLayoutId id="2147483770" r:id="rId2"/>
    <p:sldLayoutId id="2147483771" r:id="rId3"/>
    <p:sldLayoutId id="2147483772" r:id="rId4"/>
    <p:sldLayoutId id="2147483773" r:id="rId5"/>
    <p:sldLayoutId id="2147483774" r:id="rId6"/>
    <p:sldLayoutId id="2147483775" r:id="rId7"/>
    <p:sldLayoutId id="2147483776" r:id="rId8"/>
    <p:sldLayoutId id="2147483777" r:id="rId9"/>
    <p:sldLayoutId id="2147483778" r:id="rId10"/>
    <p:sldLayoutId id="2147483779" r:id="rId11"/>
  </p:sldLayoutIdLst>
  <p:txStyles>
    <p:titleStyle>
      <a:lvl1pPr algn="l" rtl="0" eaLnBrk="1" latinLnBrk="0" hangingPunct="1">
        <a:spcBef>
          <a:spcPct val="0"/>
        </a:spcBef>
        <a:buNone/>
        <a:defRPr kumimoji="0" sz="3000" b="0" kern="1200" cap="small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1"/>
        </a:buClr>
        <a:buSzPct val="70000"/>
        <a:buFont typeface="Wingdings"/>
        <a:buChar char="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ct val="20000"/>
        </a:spcBef>
        <a:buClr>
          <a:schemeClr val="accent1"/>
        </a:buClr>
        <a:buSzPct val="8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SzPct val="60000"/>
        <a:buFont typeface="Wingdings"/>
        <a:buChar char="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182880" algn="l" rtl="0" eaLnBrk="1" latinLnBrk="0" hangingPunct="1">
        <a:spcBef>
          <a:spcPct val="20000"/>
        </a:spcBef>
        <a:buClr>
          <a:schemeClr val="accent1">
            <a:tint val="60000"/>
          </a:schemeClr>
        </a:buClr>
        <a:buSzPct val="60000"/>
        <a:buFont typeface="Wingdings"/>
        <a:buChar char="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182880" algn="l" rtl="0" eaLnBrk="1" latinLnBrk="0" hangingPunct="1">
        <a:spcBef>
          <a:spcPct val="20000"/>
        </a:spcBef>
        <a:buClr>
          <a:schemeClr val="accent2">
            <a:tint val="60000"/>
          </a:schemeClr>
        </a:buClr>
        <a:buSzPct val="68000"/>
        <a:buFont typeface="Wingdings 2"/>
        <a:buChar char="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182880" algn="l" rtl="0" eaLnBrk="1" latinLnBrk="0" hangingPunct="1">
        <a:spcBef>
          <a:spcPct val="20000"/>
        </a:spcBef>
        <a:buClr>
          <a:schemeClr val="accent1"/>
        </a:buClr>
        <a:buChar char="•"/>
        <a:defRPr kumimoji="0" sz="1600" kern="1200">
          <a:solidFill>
            <a:schemeClr val="tx2"/>
          </a:solidFill>
          <a:latin typeface="+mn-lt"/>
          <a:ea typeface="+mn-ea"/>
          <a:cs typeface="+mn-cs"/>
        </a:defRPr>
      </a:lvl6pPr>
      <a:lvl7pPr marL="2011680" indent="-182880" algn="l" rtl="0" eaLnBrk="1" latinLnBrk="0" hangingPunct="1">
        <a:spcBef>
          <a:spcPct val="20000"/>
        </a:spcBef>
        <a:buClr>
          <a:schemeClr val="accent1">
            <a:tint val="60000"/>
          </a:schemeClr>
        </a:buClr>
        <a:buSzPct val="60000"/>
        <a:buFont typeface="Wingdings"/>
        <a:buChar char="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2286000" indent="-182880" algn="l" rtl="0" eaLnBrk="1" latinLnBrk="0" hangingPunct="1">
        <a:spcBef>
          <a:spcPct val="20000"/>
        </a:spcBef>
        <a:buClr>
          <a:schemeClr val="accent2"/>
        </a:buClr>
        <a:buChar char="•"/>
        <a:defRPr kumimoji="0" sz="1400" kern="1200" cap="small" baseline="0">
          <a:solidFill>
            <a:schemeClr val="tx2"/>
          </a:solidFill>
          <a:latin typeface="+mn-lt"/>
          <a:ea typeface="+mn-ea"/>
          <a:cs typeface="+mn-cs"/>
        </a:defRPr>
      </a:lvl8pPr>
      <a:lvl9pPr marL="256032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Char char="•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Generating Electricity Bill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>
            <a:normAutofit fontScale="62500" lnSpcReduction="20000"/>
          </a:bodyPr>
          <a:lstStyle/>
          <a:p>
            <a:r>
              <a:rPr lang="en-US" dirty="0" smtClean="0"/>
              <a:t>Presented by:</a:t>
            </a:r>
          </a:p>
          <a:p>
            <a:r>
              <a:rPr lang="en-US" sz="1800" dirty="0" err="1" smtClean="0"/>
              <a:t>Maryam</a:t>
            </a:r>
            <a:r>
              <a:rPr lang="en-US" sz="1800" dirty="0" smtClean="0"/>
              <a:t> Tariq</a:t>
            </a:r>
          </a:p>
          <a:p>
            <a:r>
              <a:rPr lang="en-US" sz="1800" dirty="0" err="1" smtClean="0"/>
              <a:t>Faryal</a:t>
            </a:r>
            <a:r>
              <a:rPr lang="en-US" sz="1800" dirty="0" smtClean="0"/>
              <a:t>  </a:t>
            </a:r>
            <a:r>
              <a:rPr lang="en-US" sz="1800" dirty="0" err="1" smtClean="0"/>
              <a:t>Asif</a:t>
            </a:r>
            <a:endParaRPr lang="en-US" sz="1800" dirty="0" smtClean="0"/>
          </a:p>
          <a:p>
            <a:r>
              <a:rPr lang="en-US" sz="1800" dirty="0" err="1" smtClean="0"/>
              <a:t>Warda</a:t>
            </a:r>
            <a:r>
              <a:rPr lang="en-US" sz="1800" dirty="0" smtClean="0"/>
              <a:t> </a:t>
            </a:r>
            <a:r>
              <a:rPr lang="en-US" sz="1800" dirty="0" err="1" smtClean="0"/>
              <a:t>Nayab</a:t>
            </a:r>
            <a:endParaRPr lang="en-US" sz="1800" dirty="0" smtClean="0"/>
          </a:p>
          <a:p>
            <a:r>
              <a:rPr lang="en-US" sz="1800" dirty="0" err="1" smtClean="0"/>
              <a:t>Hamna</a:t>
            </a:r>
            <a:r>
              <a:rPr lang="en-US" sz="1800" dirty="0" smtClean="0"/>
              <a:t> </a:t>
            </a:r>
            <a:r>
              <a:rPr lang="en-US" sz="1800" dirty="0" err="1" smtClean="0"/>
              <a:t>Arshad</a:t>
            </a:r>
            <a:endParaRPr lang="en-US" sz="1800" dirty="0" smtClean="0"/>
          </a:p>
          <a:p>
            <a:r>
              <a:rPr lang="en-US" sz="1800" dirty="0" err="1" smtClean="0"/>
              <a:t>Hamna</a:t>
            </a:r>
            <a:r>
              <a:rPr lang="en-US" sz="1800" dirty="0" smtClean="0"/>
              <a:t> </a:t>
            </a:r>
            <a:r>
              <a:rPr lang="en-US" sz="1800" dirty="0" err="1"/>
              <a:t>Q</a:t>
            </a:r>
            <a:r>
              <a:rPr lang="en-US" sz="1800" dirty="0" err="1" smtClean="0"/>
              <a:t>andeel</a:t>
            </a:r>
            <a:endParaRPr lang="en-US" sz="1800" dirty="0" smtClean="0"/>
          </a:p>
          <a:p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1477962"/>
          </a:xfrm>
        </p:spPr>
        <p:txBody>
          <a:bodyPr>
            <a:normAutofit/>
          </a:bodyPr>
          <a:lstStyle/>
          <a:p>
            <a:r>
              <a:rPr lang="en-US" sz="3200" dirty="0" smtClean="0"/>
              <a:t>Introduction:</a:t>
            </a:r>
            <a:endParaRPr lang="en-US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2133600"/>
            <a:ext cx="7467600" cy="2819400"/>
          </a:xfrm>
        </p:spPr>
        <p:txBody>
          <a:bodyPr>
            <a:normAutofit/>
          </a:bodyPr>
          <a:lstStyle/>
          <a:p>
            <a:r>
              <a:rPr lang="en-US" dirty="0" smtClean="0"/>
              <a:t>The generation of electricity bill is a </a:t>
            </a:r>
            <a:r>
              <a:rPr lang="en-US" dirty="0" err="1" smtClean="0"/>
              <a:t>curical</a:t>
            </a:r>
            <a:r>
              <a:rPr lang="en-US" dirty="0" smtClean="0"/>
              <a:t> initiative aimed at automating and optimizing the process of calculating utility costs to consumers.</a:t>
            </a:r>
          </a:p>
          <a:p>
            <a:r>
              <a:rPr lang="en-US" dirty="0" smtClean="0"/>
              <a:t>The project seeks to provide accurate and real time billing information to both consumers and utility provider.</a:t>
            </a:r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33600" y="2362200"/>
            <a:ext cx="6172200" cy="2053590"/>
          </a:xfrm>
        </p:spPr>
        <p:txBody>
          <a:bodyPr/>
          <a:lstStyle/>
          <a:p>
            <a:r>
              <a:rPr lang="en-US" dirty="0" smtClean="0"/>
              <a:t>Background: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09800" y="4495800"/>
            <a:ext cx="6172200" cy="1752600"/>
          </a:xfrm>
        </p:spPr>
        <p:txBody>
          <a:bodyPr>
            <a:normAutofit/>
          </a:bodyPr>
          <a:lstStyle/>
          <a:p>
            <a:r>
              <a:rPr lang="en-US" dirty="0" smtClean="0"/>
              <a:t>The need for accurate and transparent electricity billing has become increasingly </a:t>
            </a:r>
            <a:r>
              <a:rPr lang="en-US" dirty="0" err="1" smtClean="0"/>
              <a:t>curical</a:t>
            </a:r>
            <a:r>
              <a:rPr lang="en-US" dirty="0" smtClean="0"/>
              <a:t> in our </a:t>
            </a:r>
            <a:r>
              <a:rPr lang="en-US" dirty="0" err="1" smtClean="0"/>
              <a:t>modren</a:t>
            </a:r>
            <a:r>
              <a:rPr lang="en-US" dirty="0" smtClean="0"/>
              <a:t> world. By developing a robust electricity billing system , we aim to address these challenges and contributes to a more streamlined and fair process.</a:t>
            </a:r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Objectives of Generating Electricity Bill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b="1" dirty="0" smtClean="0"/>
              <a:t>Usage calculation:</a:t>
            </a:r>
          </a:p>
          <a:p>
            <a:pPr>
              <a:buNone/>
            </a:pPr>
            <a:r>
              <a:rPr lang="en-US" dirty="0" smtClean="0"/>
              <a:t>			Accurately measures and calculate the amount of electricity consumed by a user.</a:t>
            </a:r>
          </a:p>
          <a:p>
            <a:r>
              <a:rPr lang="en-US" b="1" dirty="0" smtClean="0"/>
              <a:t>Transparent Breakdown:</a:t>
            </a:r>
          </a:p>
          <a:p>
            <a:pPr>
              <a:buNone/>
            </a:pPr>
            <a:r>
              <a:rPr lang="en-US" dirty="0" smtClean="0"/>
              <a:t>			Provide a clear and detailed breakdown of charges on the electricity bill.</a:t>
            </a:r>
          </a:p>
          <a:p>
            <a:r>
              <a:rPr lang="en-US" b="1" dirty="0" smtClean="0"/>
              <a:t>Payment Integration:</a:t>
            </a:r>
          </a:p>
          <a:p>
            <a:pPr>
              <a:buNone/>
            </a:pPr>
            <a:r>
              <a:rPr lang="en-US" dirty="0" smtClean="0"/>
              <a:t>	</a:t>
            </a:r>
            <a:r>
              <a:rPr lang="en-US" dirty="0" smtClean="0"/>
              <a:t>		Facilitate seamless payment processes . Integrate Various payment methods such as credit cards, bank transfers or mobile payment options , to enhance user </a:t>
            </a:r>
            <a:r>
              <a:rPr lang="en-US" dirty="0" err="1" smtClean="0"/>
              <a:t>convience</a:t>
            </a:r>
            <a:r>
              <a:rPr lang="en-US" dirty="0" smtClean="0"/>
              <a:t>.</a:t>
            </a:r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Objectives  of generating electricity bill: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b="1" dirty="0" smtClean="0"/>
              <a:t>Customer Support Integration:</a:t>
            </a:r>
          </a:p>
          <a:p>
            <a:pPr>
              <a:buNone/>
            </a:pPr>
            <a:r>
              <a:rPr lang="en-US" b="1" dirty="0" smtClean="0"/>
              <a:t>	</a:t>
            </a:r>
            <a:r>
              <a:rPr lang="en-US" b="1" dirty="0" smtClean="0"/>
              <a:t>		</a:t>
            </a:r>
            <a:r>
              <a:rPr lang="en-US" dirty="0" smtClean="0"/>
              <a:t>Include customer support features for user to address any concern or disputes related to their bills.</a:t>
            </a:r>
          </a:p>
          <a:p>
            <a:r>
              <a:rPr lang="en-US" b="1" dirty="0" smtClean="0"/>
              <a:t>Historical Data </a:t>
            </a:r>
            <a:r>
              <a:rPr lang="en-US" b="1" dirty="0" smtClean="0"/>
              <a:t>S</a:t>
            </a:r>
            <a:r>
              <a:rPr lang="en-US" b="1" dirty="0" smtClean="0"/>
              <a:t>torage:</a:t>
            </a:r>
          </a:p>
          <a:p>
            <a:pPr>
              <a:buNone/>
            </a:pPr>
            <a:r>
              <a:rPr lang="en-US" dirty="0" smtClean="0"/>
              <a:t>	</a:t>
            </a:r>
            <a:r>
              <a:rPr lang="en-US" dirty="0" smtClean="0"/>
              <a:t>		Store historical usage and billing data for future reference.</a:t>
            </a:r>
          </a:p>
          <a:p>
            <a:r>
              <a:rPr lang="en-US" b="1" dirty="0" smtClean="0"/>
              <a:t>Rate Application:</a:t>
            </a:r>
          </a:p>
          <a:p>
            <a:pPr>
              <a:buNone/>
            </a:pPr>
            <a:r>
              <a:rPr lang="en-US" dirty="0" smtClean="0"/>
              <a:t>	</a:t>
            </a:r>
            <a:r>
              <a:rPr lang="en-US" dirty="0" smtClean="0"/>
              <a:t>		Apply the appropriate electricity rates to the usage data.</a:t>
            </a:r>
          </a:p>
          <a:p>
            <a:pPr>
              <a:buNone/>
            </a:pPr>
            <a:r>
              <a:rPr lang="en-US" dirty="0" smtClean="0"/>
              <a:t>	</a:t>
            </a:r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Methodologies: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b="1" dirty="0" smtClean="0"/>
              <a:t>Additional Changes</a:t>
            </a:r>
            <a:r>
              <a:rPr lang="en-US" dirty="0" smtClean="0"/>
              <a:t>:</a:t>
            </a:r>
          </a:p>
          <a:p>
            <a:pPr>
              <a:buNone/>
            </a:pPr>
            <a:r>
              <a:rPr lang="en-US" dirty="0" smtClean="0"/>
              <a:t>	</a:t>
            </a:r>
            <a:r>
              <a:rPr lang="en-US" dirty="0" smtClean="0"/>
              <a:t>		Additional changes on your electricity bill are like extra fees . There are also late payment fees if you forget to pay on time.</a:t>
            </a:r>
          </a:p>
          <a:p>
            <a:r>
              <a:rPr lang="en-US" b="1" dirty="0" smtClean="0"/>
              <a:t>Bill Generation:</a:t>
            </a:r>
          </a:p>
          <a:p>
            <a:pPr>
              <a:buNone/>
            </a:pPr>
            <a:r>
              <a:rPr lang="en-US" b="1" dirty="0" smtClean="0"/>
              <a:t>	</a:t>
            </a:r>
            <a:r>
              <a:rPr lang="en-US" b="1" dirty="0" smtClean="0"/>
              <a:t>		</a:t>
            </a:r>
            <a:r>
              <a:rPr lang="en-US" dirty="0" smtClean="0"/>
              <a:t>Combine calculated values to generate the final bill.</a:t>
            </a:r>
          </a:p>
          <a:p>
            <a:r>
              <a:rPr lang="en-US" b="1" dirty="0" smtClean="0"/>
              <a:t>Reporting and Analysis:</a:t>
            </a:r>
          </a:p>
          <a:p>
            <a:pPr>
              <a:buNone/>
            </a:pPr>
            <a:r>
              <a:rPr lang="en-US" dirty="0" smtClean="0"/>
              <a:t>	</a:t>
            </a:r>
            <a:r>
              <a:rPr lang="en-US" dirty="0" smtClean="0"/>
              <a:t>		Reporting and analysis in electricity billing are like checking how well the things are working.</a:t>
            </a:r>
          </a:p>
          <a:p>
            <a:r>
              <a:rPr lang="en-US" b="1" dirty="0" smtClean="0"/>
              <a:t>Security Measures:</a:t>
            </a:r>
          </a:p>
          <a:p>
            <a:pPr>
              <a:buNone/>
            </a:pPr>
            <a:r>
              <a:rPr lang="en-US" dirty="0" smtClean="0"/>
              <a:t>	</a:t>
            </a:r>
            <a:r>
              <a:rPr lang="en-US" dirty="0" smtClean="0"/>
              <a:t>		Implement security portals to protect customers data. </a:t>
            </a:r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Methodologies: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b="1" dirty="0" smtClean="0"/>
              <a:t>Data Collection:</a:t>
            </a:r>
          </a:p>
          <a:p>
            <a:pPr>
              <a:buNone/>
            </a:pPr>
            <a:r>
              <a:rPr lang="en-US" dirty="0" smtClean="0"/>
              <a:t>	</a:t>
            </a:r>
            <a:r>
              <a:rPr lang="en-US" dirty="0" smtClean="0"/>
              <a:t>		Gather information on electricity consumption, including meter readings ,usage patterns, and tariff details.</a:t>
            </a:r>
          </a:p>
          <a:p>
            <a:r>
              <a:rPr lang="en-US" b="1" dirty="0" smtClean="0"/>
              <a:t>System Architecture:</a:t>
            </a:r>
          </a:p>
          <a:p>
            <a:pPr>
              <a:buNone/>
            </a:pPr>
            <a:r>
              <a:rPr lang="en-US" dirty="0" smtClean="0"/>
              <a:t>	</a:t>
            </a:r>
            <a:r>
              <a:rPr lang="en-US" dirty="0" smtClean="0"/>
              <a:t>		Define the overall structure of billing system , outlining  data flow , components, and interactions.</a:t>
            </a:r>
          </a:p>
          <a:p>
            <a:r>
              <a:rPr lang="en-US" b="1" dirty="0" smtClean="0"/>
              <a:t>Database design:</a:t>
            </a:r>
          </a:p>
          <a:p>
            <a:pPr>
              <a:buNone/>
            </a:pPr>
            <a:r>
              <a:rPr lang="en-US" dirty="0" smtClean="0"/>
              <a:t>	</a:t>
            </a:r>
            <a:r>
              <a:rPr lang="en-US" dirty="0" smtClean="0"/>
              <a:t>		Create a database to store customer information , meter readings , and billing details securely.</a:t>
            </a:r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Problem statement: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b="1" dirty="0" smtClean="0"/>
              <a:t>Inaccuracy and Discrepancies</a:t>
            </a:r>
            <a:r>
              <a:rPr lang="en-US" dirty="0" smtClean="0"/>
              <a:t>:</a:t>
            </a:r>
          </a:p>
          <a:p>
            <a:pPr>
              <a:buNone/>
            </a:pPr>
            <a:r>
              <a:rPr lang="en-US" dirty="0" smtClean="0"/>
              <a:t>			Traditional billing methods frequently suffer from in accuracies , leading to disputes and mistrust between consumer and utility provider.</a:t>
            </a:r>
          </a:p>
          <a:p>
            <a:r>
              <a:rPr lang="en-US" b="1" dirty="0" smtClean="0"/>
              <a:t>Lack of </a:t>
            </a:r>
            <a:r>
              <a:rPr lang="en-US" b="1" dirty="0" smtClean="0"/>
              <a:t>T</a:t>
            </a:r>
            <a:r>
              <a:rPr lang="en-US" b="1" dirty="0" smtClean="0"/>
              <a:t>ransparency:</a:t>
            </a:r>
          </a:p>
          <a:p>
            <a:pPr>
              <a:buNone/>
            </a:pPr>
            <a:r>
              <a:rPr lang="en-US" dirty="0" smtClean="0"/>
              <a:t>	</a:t>
            </a:r>
            <a:r>
              <a:rPr lang="en-US" dirty="0" smtClean="0"/>
              <a:t>		 Many consumers find it challenging to comprehend the intricacies of their electricity bill.</a:t>
            </a:r>
          </a:p>
          <a:p>
            <a:r>
              <a:rPr lang="en-US" b="1" dirty="0" smtClean="0"/>
              <a:t>Delayed Billing:</a:t>
            </a:r>
          </a:p>
          <a:p>
            <a:pPr>
              <a:buNone/>
            </a:pPr>
            <a:r>
              <a:rPr lang="en-US" dirty="0" smtClean="0"/>
              <a:t>			Some billing system operate on delayed cycles, causing inconvenience to both consumer and utility provider. </a:t>
            </a:r>
            <a:endParaRPr 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Problem statement: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b="1" dirty="0" smtClean="0"/>
              <a:t>Limited Sustainability Integration:</a:t>
            </a:r>
          </a:p>
          <a:p>
            <a:pPr>
              <a:buNone/>
            </a:pPr>
            <a:r>
              <a:rPr lang="en-US" dirty="0" smtClean="0"/>
              <a:t>	</a:t>
            </a:r>
            <a:r>
              <a:rPr lang="en-US" dirty="0" smtClean="0"/>
              <a:t>		Current billing system often mess the opportunity to encourage  sustainable energy practices.</a:t>
            </a:r>
          </a:p>
          <a:p>
            <a:r>
              <a:rPr lang="en-US" b="1" dirty="0" smtClean="0"/>
              <a:t>Security Concerns:</a:t>
            </a:r>
          </a:p>
          <a:p>
            <a:pPr>
              <a:buNone/>
            </a:pPr>
            <a:r>
              <a:rPr lang="en-US" dirty="0" smtClean="0"/>
              <a:t>	</a:t>
            </a:r>
            <a:r>
              <a:rPr lang="en-US" dirty="0" smtClean="0"/>
              <a:t>		With the increasing reliance on digital platform for billing, security becomes a critical concern . Protecting users data from potential breaches and ensuring  the integrity of the billing process is essential for building trust among consumers.</a:t>
            </a:r>
            <a:endParaRPr 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Implementation: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b="1" dirty="0" smtClean="0"/>
              <a:t>Technologies Used:</a:t>
            </a:r>
          </a:p>
          <a:p>
            <a:pPr>
              <a:buNone/>
            </a:pPr>
            <a:r>
              <a:rPr lang="en-US" dirty="0" smtClean="0"/>
              <a:t>	</a:t>
            </a:r>
            <a:r>
              <a:rPr lang="en-US" dirty="0" smtClean="0"/>
              <a:t>		programming language: C language.</a:t>
            </a:r>
          </a:p>
          <a:p>
            <a:r>
              <a:rPr lang="en-US" b="1" dirty="0" smtClean="0"/>
              <a:t>Modules:</a:t>
            </a:r>
          </a:p>
          <a:p>
            <a:pPr marL="514350" indent="-514350">
              <a:buFont typeface="+mj-lt"/>
              <a:buAutoNum type="romanLcPeriod"/>
            </a:pPr>
            <a:r>
              <a:rPr lang="en-US" sz="1800" b="1" dirty="0" smtClean="0"/>
              <a:t>Customer information module: </a:t>
            </a:r>
            <a:r>
              <a:rPr lang="en-US" sz="1800" dirty="0" smtClean="0"/>
              <a:t>Collect and validates customers details such as name ,address , and connection type.</a:t>
            </a:r>
          </a:p>
          <a:p>
            <a:pPr marL="514350" indent="-514350">
              <a:buFont typeface="+mj-lt"/>
              <a:buAutoNum type="romanLcPeriod"/>
            </a:pPr>
            <a:r>
              <a:rPr lang="en-US" sz="1800" b="1" dirty="0" smtClean="0"/>
              <a:t>Meter reading module: </a:t>
            </a:r>
            <a:r>
              <a:rPr lang="en-US" sz="1800" dirty="0" smtClean="0"/>
              <a:t>Records and validates meter reading ,stores the data in a database.</a:t>
            </a:r>
          </a:p>
          <a:p>
            <a:pPr marL="514350" indent="-514350">
              <a:buFont typeface="+mj-lt"/>
              <a:buAutoNum type="romanLcPeriod"/>
            </a:pPr>
            <a:r>
              <a:rPr lang="en-US" sz="1800" b="1" dirty="0" smtClean="0"/>
              <a:t>Billing algorithm module: </a:t>
            </a:r>
            <a:r>
              <a:rPr lang="en-US" sz="1800" dirty="0" smtClean="0"/>
              <a:t>Calculates the </a:t>
            </a:r>
            <a:r>
              <a:rPr lang="en-US" sz="1800" dirty="0" err="1" smtClean="0"/>
              <a:t>ectricity</a:t>
            </a:r>
            <a:r>
              <a:rPr lang="en-US" sz="1800" dirty="0" smtClean="0"/>
              <a:t> consumption based on meter readings and applies the appropriate tariff rates.</a:t>
            </a:r>
          </a:p>
          <a:p>
            <a:pPr marL="514350" indent="-514350">
              <a:buFont typeface="+mj-lt"/>
              <a:buAutoNum type="romanLcPeriod"/>
            </a:pPr>
            <a:r>
              <a:rPr lang="en-US" sz="1800" b="1" dirty="0" smtClean="0"/>
              <a:t>Bill generation module</a:t>
            </a:r>
            <a:r>
              <a:rPr lang="en-US" sz="1800" dirty="0" smtClean="0"/>
              <a:t>:  creates a formatted bill with detailed information.</a:t>
            </a:r>
          </a:p>
          <a:p>
            <a:pPr marL="514350" indent="-514350"/>
            <a:r>
              <a:rPr lang="en-US" sz="2000" b="1" dirty="0" smtClean="0"/>
              <a:t>User Interface:</a:t>
            </a:r>
          </a:p>
          <a:p>
            <a:pPr marL="514350" indent="-514350">
              <a:buNone/>
            </a:pPr>
            <a:r>
              <a:rPr lang="en-US" sz="2000" dirty="0" smtClean="0"/>
              <a:t>	</a:t>
            </a:r>
            <a:r>
              <a:rPr lang="en-US" sz="2000" dirty="0" smtClean="0"/>
              <a:t>	The graphical user interface will have input fields for customer information , meter </a:t>
            </a:r>
            <a:r>
              <a:rPr lang="en-US" sz="2000" dirty="0" err="1" smtClean="0"/>
              <a:t>readings,and</a:t>
            </a:r>
            <a:r>
              <a:rPr lang="en-US" sz="2000" dirty="0" smtClean="0"/>
              <a:t> tariff rates. There will be buttons to submit data , calculate and generate bill.</a:t>
            </a:r>
            <a:endParaRPr lang="en-US" sz="1800" dirty="0" smtClean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Conclusion: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70000" lnSpcReduction="20000"/>
          </a:bodyPr>
          <a:lstStyle/>
          <a:p>
            <a:pPr>
              <a:buNone/>
            </a:pPr>
            <a:r>
              <a:rPr lang="en-US" dirty="0" smtClean="0"/>
              <a:t>   The implementation of the generating Electricity Bill System successfully achieves its objectives. The system provides a user friendly interface for inputting and validating customers information and meter readings. The billing algorithm accurately calculates the electricity consumption and apply the appropriate tariff rate . The bill generation feature produce a detailed and formatted electricity bill . The implementation of electricity bill generation in C provides  a foundation for automating the billing process . The  system successfully captures customer details , calculates the electricity bill based on the units consumed , and displayed a formatted bill while this is a basic prototype , it can be extended to include additional features such as billing history , tariff rates , customization and user interface for </a:t>
            </a:r>
            <a:r>
              <a:rPr lang="en-US" dirty="0" smtClean="0"/>
              <a:t>e</a:t>
            </a:r>
            <a:r>
              <a:rPr lang="en-US" dirty="0" smtClean="0"/>
              <a:t>nhanced usability.</a:t>
            </a:r>
          </a:p>
          <a:p>
            <a:pPr>
              <a:buNone/>
            </a:pPr>
            <a:r>
              <a:rPr lang="en-US" dirty="0" smtClean="0"/>
              <a:t>    In conclusion , the project lays the groundwork for amore comprehensive and user-friendly electricity billing system, contributing to efficiency and accuracy in billing processes. Future work may involve incorporating database functionalities for persistent  data storage and developing a graphical user interface for better user interaction. </a:t>
            </a:r>
            <a:endParaRPr lang="en-US" dirty="0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iel">
  <a:themeElements>
    <a:clrScheme name="Urban">
      <a:dk1>
        <a:sysClr val="windowText" lastClr="000000"/>
      </a:dk1>
      <a:lt1>
        <a:sysClr val="window" lastClr="FFFFFF"/>
      </a:lt1>
      <a:dk2>
        <a:srgbClr val="424456"/>
      </a:dk2>
      <a:lt2>
        <a:srgbClr val="DEDEDE"/>
      </a:lt2>
      <a:accent1>
        <a:srgbClr val="53548A"/>
      </a:accent1>
      <a:accent2>
        <a:srgbClr val="438086"/>
      </a:accent2>
      <a:accent3>
        <a:srgbClr val="A04DA3"/>
      </a:accent3>
      <a:accent4>
        <a:srgbClr val="C4652D"/>
      </a:accent4>
      <a:accent5>
        <a:srgbClr val="8B5D3D"/>
      </a:accent5>
      <a:accent6>
        <a:srgbClr val="5C92B5"/>
      </a:accent6>
      <a:hlink>
        <a:srgbClr val="67AFBD"/>
      </a:hlink>
      <a:folHlink>
        <a:srgbClr val="C2A874"/>
      </a:folHlink>
    </a:clrScheme>
    <a:fontScheme name="Oriel">
      <a:majorFont>
        <a:latin typeface="Century Schoolbook"/>
        <a:ea typeface=""/>
        <a:cs typeface=""/>
        <a:font script="Jpan" typeface="ＭＳ Ｐ明朝"/>
        <a:font script="Hang" typeface="휴먼매직체"/>
        <a:font script="Hans" typeface="华文楷体"/>
        <a:font script="Hant" typeface="新細明體"/>
        <a:font script="Arab" typeface="Times New Roman"/>
        <a:font script="Hebr" typeface="Times New Roman"/>
        <a:font script="Thai" typeface="Kodchiang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entury Schoolbook"/>
        <a:ea typeface=""/>
        <a:cs typeface=""/>
        <a:font script="Jpan" typeface="ＭＳ Ｐ明朝"/>
        <a:font script="Hang" typeface="휴먼매직체"/>
        <a:font script="Hans" typeface="宋体"/>
        <a:font script="Hant" typeface="新細明體"/>
        <a:font script="Arab" typeface="Times New Roman"/>
        <a:font script="Hebr" typeface="Times New Roman"/>
        <a:font script="Thai" typeface="Kodchiang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Oriel">
      <a:fillStyleLst>
        <a:solidFill>
          <a:schemeClr val="phClr"/>
        </a:solidFill>
        <a:gradFill rotWithShape="1">
          <a:gsLst>
            <a:gs pos="0">
              <a:schemeClr val="phClr">
                <a:tint val="35000"/>
                <a:satMod val="260000"/>
              </a:schemeClr>
            </a:gs>
            <a:gs pos="30000">
              <a:schemeClr val="phClr">
                <a:tint val="38000"/>
                <a:satMod val="260000"/>
              </a:schemeClr>
            </a:gs>
            <a:gs pos="75000">
              <a:schemeClr val="phClr">
                <a:tint val="55000"/>
                <a:satMod val="255000"/>
              </a:schemeClr>
            </a:gs>
            <a:gs pos="100000">
              <a:schemeClr val="phClr">
                <a:tint val="70000"/>
                <a:satMod val="255000"/>
              </a:schemeClr>
            </a:gs>
          </a:gsLst>
          <a:path path="circle">
            <a:fillToRect l="5000" t="100000" r="120000" b="10000"/>
          </a:path>
        </a:gradFill>
        <a:gradFill rotWithShape="1">
          <a:gsLst>
            <a:gs pos="0">
              <a:schemeClr val="phClr">
                <a:shade val="63000"/>
                <a:satMod val="165000"/>
              </a:schemeClr>
            </a:gs>
            <a:gs pos="30000">
              <a:schemeClr val="phClr">
                <a:shade val="58000"/>
                <a:satMod val="165000"/>
              </a:schemeClr>
            </a:gs>
            <a:gs pos="75000">
              <a:schemeClr val="phClr">
                <a:shade val="30000"/>
                <a:satMod val="175000"/>
              </a:schemeClr>
            </a:gs>
            <a:gs pos="100000">
              <a:schemeClr val="phClr">
                <a:shade val="15000"/>
                <a:satMod val="175000"/>
              </a:schemeClr>
            </a:gs>
          </a:gsLst>
          <a:path path="circle">
            <a:fillToRect l="5000" t="100000" r="120000" b="10000"/>
          </a:path>
        </a:gradFill>
      </a:fillStyleLst>
      <a:lnStyleLst>
        <a:ln w="12700" cap="flat" cmpd="sng" algn="ctr">
          <a:solidFill>
            <a:schemeClr val="phClr">
              <a:shade val="70000"/>
              <a:satMod val="15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4925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0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20000" dir="5400000" rotWithShape="0">
              <a:srgbClr val="000000">
                <a:alpha val="42000"/>
              </a:srgbClr>
            </a:outerShdw>
          </a:effectLst>
        </a:effectStyle>
        <a:effectStyle>
          <a:effectLst>
            <a:outerShdw blurRad="50800" dist="20000" dir="5400000" rotWithShape="0">
              <a:srgbClr val="000000">
                <a:alpha val="4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0"/>
            </a:lightRig>
          </a:scene3d>
          <a:sp3d>
            <a:bevelT w="47625" h="69850"/>
            <a:contourClr>
              <a:schemeClr val="lt1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58000"/>
                <a:satMod val="125000"/>
              </a:schemeClr>
            </a:gs>
            <a:gs pos="40000">
              <a:schemeClr val="phClr">
                <a:tint val="90000"/>
                <a:shade val="90000"/>
                <a:satMod val="120000"/>
              </a:schemeClr>
            </a:gs>
            <a:gs pos="100000">
              <a:schemeClr val="phClr">
                <a:tint val="5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80000"/>
              </a:schemeClr>
              <a:schemeClr val="phClr">
                <a:tint val="91000"/>
              </a:schemeClr>
            </a:duotone>
          </a:blip>
          <a:tile tx="0" ty="0" sx="40000" sy="50000" flip="y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Oriel</Template>
  <TotalTime>318</TotalTime>
  <Words>328</Words>
  <Application>Microsoft Office PowerPoint</Application>
  <PresentationFormat>On-screen Show (4:3)</PresentationFormat>
  <Paragraphs>68</Paragraphs>
  <Slides>11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Oriel</vt:lpstr>
      <vt:lpstr>Generating Electricity Bill</vt:lpstr>
      <vt:lpstr>Introduction:</vt:lpstr>
      <vt:lpstr>Background:</vt:lpstr>
      <vt:lpstr>Objectives of Generating Electricity Bill</vt:lpstr>
      <vt:lpstr>Objectives  of generating electricity bill:</vt:lpstr>
      <vt:lpstr>Methodologies:</vt:lpstr>
      <vt:lpstr>Methodologies:</vt:lpstr>
      <vt:lpstr>Problem statement:</vt:lpstr>
      <vt:lpstr>Problem statement:</vt:lpstr>
      <vt:lpstr>Implementation:</vt:lpstr>
      <vt:lpstr>Conclusion: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Generating Electricity Bill</dc:title>
  <dc:creator>EliteBook</dc:creator>
  <cp:lastModifiedBy>EliteBook</cp:lastModifiedBy>
  <cp:revision>1</cp:revision>
  <dcterms:created xsi:type="dcterms:W3CDTF">2024-01-11T08:30:48Z</dcterms:created>
  <dcterms:modified xsi:type="dcterms:W3CDTF">2024-01-11T13:48:59Z</dcterms:modified>
</cp:coreProperties>
</file>